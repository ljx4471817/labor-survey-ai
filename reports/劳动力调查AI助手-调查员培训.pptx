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d5e0ff6c9247de" /><Relationship Type="http://schemas.openxmlformats.org/officeDocument/2006/relationships/extended-properties" Target="/docProps/app.xml" Id="R5ecf01812b93454e" /><Relationship Type="http://schemas.openxmlformats.org/officeDocument/2006/relationships/officeDocument" Target="/ppt/presentation.xml" Id="R89ba7fe2120449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dd1c7139b44b44"/>
  </p:sldMasterIdLst>
  <p:notesMasterIdLst>
    <p:notesMasterId xmlns:r="http://schemas.openxmlformats.org/officeDocument/2006/relationships" r:id="R72793e91f909407f"/>
  </p:notesMasterIdLst>
  <p:sldIdLst>
    <p:sldId xmlns:r="http://schemas.openxmlformats.org/officeDocument/2006/relationships" id="256" r:id="R01c5099a839f4148"/>
    <p:sldId xmlns:r="http://schemas.openxmlformats.org/officeDocument/2006/relationships" id="257" r:id="Rc5dff723809f4895"/>
    <p:sldId xmlns:r="http://schemas.openxmlformats.org/officeDocument/2006/relationships" id="258" r:id="R86e8622f16bb4ebb"/>
    <p:sldId xmlns:r="http://schemas.openxmlformats.org/officeDocument/2006/relationships" id="259" r:id="R7f41847cbd654e04"/>
    <p:sldId xmlns:r="http://schemas.openxmlformats.org/officeDocument/2006/relationships" id="260" r:id="R80f5547405254bea"/>
    <p:sldId xmlns:r="http://schemas.openxmlformats.org/officeDocument/2006/relationships" id="261" r:id="Rd616eef190b943e4"/>
    <p:sldId xmlns:r="http://schemas.openxmlformats.org/officeDocument/2006/relationships" id="262" r:id="Rd1fa52dfdc0c4694"/>
    <p:sldId xmlns:r="http://schemas.openxmlformats.org/officeDocument/2006/relationships" id="263" r:id="R11431191222d4bfc"/>
    <p:sldId xmlns:r="http://schemas.openxmlformats.org/officeDocument/2006/relationships" id="264" r:id="Rfd0b82f874424841"/>
    <p:sldId xmlns:r="http://schemas.openxmlformats.org/officeDocument/2006/relationships" id="265" r:id="R073b4a175bd84ff0"/>
    <p:sldId xmlns:r="http://schemas.openxmlformats.org/officeDocument/2006/relationships" id="266" r:id="R0217a7e5fa6042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01a47b866f4d19" /><Relationship Type="http://schemas.openxmlformats.org/officeDocument/2006/relationships/slideMaster" Target="/ppt/slideMasters/slideMaster1.xml" Id="Re0dd1c7139b44b44" /><Relationship Type="http://schemas.openxmlformats.org/officeDocument/2006/relationships/notesMaster" Target="/ppt/notesMasters/notesMaster1.xml" Id="R72793e91f909407f" /><Relationship Type="http://schemas.openxmlformats.org/officeDocument/2006/relationships/presProps" Target="/ppt/presProps.xml" Id="Re5f26cb4f2a64f30" /><Relationship Type="http://schemas.openxmlformats.org/officeDocument/2006/relationships/tableStyles" Target="/ppt/tableStyles.xml" Id="R63acb18e6a8446cc" /><Relationship Type="http://schemas.openxmlformats.org/officeDocument/2006/relationships/slide" Target="/ppt/slides/slide1.xml" Id="R01c5099a839f4148" /><Relationship Type="http://schemas.openxmlformats.org/officeDocument/2006/relationships/slide" Target="/ppt/slides/slide2.xml" Id="Rc5dff723809f4895" /><Relationship Type="http://schemas.openxmlformats.org/officeDocument/2006/relationships/slide" Target="/ppt/slides/slide3.xml" Id="R86e8622f16bb4ebb" /><Relationship Type="http://schemas.openxmlformats.org/officeDocument/2006/relationships/slide" Target="/ppt/slides/slide4.xml" Id="R7f41847cbd654e04" /><Relationship Type="http://schemas.openxmlformats.org/officeDocument/2006/relationships/slide" Target="/ppt/slides/slide5.xml" Id="R80f5547405254bea" /><Relationship Type="http://schemas.openxmlformats.org/officeDocument/2006/relationships/slide" Target="/ppt/slides/slide6.xml" Id="Rd616eef190b943e4" /><Relationship Type="http://schemas.openxmlformats.org/officeDocument/2006/relationships/slide" Target="/ppt/slides/slide7.xml" Id="Rd1fa52dfdc0c4694" /><Relationship Type="http://schemas.openxmlformats.org/officeDocument/2006/relationships/slide" Target="/ppt/slides/slide8.xml" Id="R11431191222d4bfc" /><Relationship Type="http://schemas.openxmlformats.org/officeDocument/2006/relationships/slide" Target="/ppt/slides/slide9.xml" Id="Rfd0b82f874424841" /><Relationship Type="http://schemas.openxmlformats.org/officeDocument/2006/relationships/slide" Target="/ppt/slides/slide10.xml" Id="R073b4a175bd84ff0" /><Relationship Type="http://schemas.openxmlformats.org/officeDocument/2006/relationships/slide" Target="/ppt/slides/slide11.xml" Id="R0217a7e5fa6042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af001ba85c41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814d7ff4de4bdd" /><Relationship Type="http://schemas.openxmlformats.org/officeDocument/2006/relationships/notesMaster" Target="/ppt/notesMasters/notesMaster1.xml" Id="R80e91d32a8874a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87d708c9ca4327" /><Relationship Type="http://schemas.openxmlformats.org/officeDocument/2006/relationships/notesMaster" Target="/ppt/notesMasters/notesMaster1.xml" Id="Ra5eefe01d6df42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cd4bfb56aa4f22" /><Relationship Type="http://schemas.openxmlformats.org/officeDocument/2006/relationships/notesMaster" Target="/ppt/notesMasters/notesMaster1.xml" Id="R983d27cf749f45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ff1fd0ed78497b" /><Relationship Type="http://schemas.openxmlformats.org/officeDocument/2006/relationships/notesMaster" Target="/ppt/notesMasters/notesMaster1.xml" Id="R58ab5631c9a147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e31a20fd6b4707" /><Relationship Type="http://schemas.openxmlformats.org/officeDocument/2006/relationships/notesMaster" Target="/ppt/notesMasters/notesMaster1.xml" Id="R756c863743ee45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94bf792aa6450b" /><Relationship Type="http://schemas.openxmlformats.org/officeDocument/2006/relationships/notesMaster" Target="/ppt/notesMasters/notesMaster1.xml" Id="Rae2b47528a6c4b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44e704add443a9" /><Relationship Type="http://schemas.openxmlformats.org/officeDocument/2006/relationships/notesMaster" Target="/ppt/notesMasters/notesMaster1.xml" Id="Rf56881e3e18e47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3451d5f7c834669" /><Relationship Type="http://schemas.openxmlformats.org/officeDocument/2006/relationships/notesMaster" Target="/ppt/notesMasters/notesMaster1.xml" Id="Rd4689b3863b541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dc4a14805b4574" /><Relationship Type="http://schemas.openxmlformats.org/officeDocument/2006/relationships/notesMaster" Target="/ppt/notesMasters/notesMaster1.xml" Id="Raa79bb2d394b42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a93950357748dc" /><Relationship Type="http://schemas.openxmlformats.org/officeDocument/2006/relationships/notesMaster" Target="/ppt/notesMasters/notesMaster1.xml" Id="R768033046ad94d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f4e593717c40c4" /><Relationship Type="http://schemas.openxmlformats.org/officeDocument/2006/relationships/notesMaster" Target="/ppt/notesMasters/notesMaster1.xml" Id="R201cb49410404b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开场（约 30 秒）：介绍本次培训目的，让大家知道入户填报遇到问题可以随时用助手。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1 分钟：强调填报判断错误直接影响数据质量，助手能把制度依据随身带上。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1 分 30 秒：逐个演示热点问题、答案反馈、历史记录三个新功能入口。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1 分 30 秒：现场演示打开 laborforceai.xyz、输入手机号登录，提醒只有白名单号码能进。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2 分钟：演示场景一，重点讲先问清参考周工作内容和劳动报酬，再对照 F10。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2 分钟：演示场景二，灵活就业按参考周实际工作情况和劳动报酬判断，不只看工作形式。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2 分钟：演示场景三，模糊回答要引导住户说具体，围绕参考周追问。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2 分钟：演示场景四，系统操作类问题也可以问，提醒账号密码走正式渠道。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1 分钟：演示反馈弹窗，说明反馈会进复核流程并改进知识库。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1 分钟：强调不收集居民个人信息、以制度原文为准、历史仅本人可见。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收尾（约 30 秒）：鼓励大家多试用、多反馈，有问题在群里提。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ec0ff3595048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7543036c194c25" /><Relationship Type="http://schemas.openxmlformats.org/officeDocument/2006/relationships/slideLayout" Target="/ppt/slideLayouts/slideLayout1.xml" Id="R26c22010230e4a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c22010230e4a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9a34c8523541a6" /><Relationship Type="http://schemas.openxmlformats.org/officeDocument/2006/relationships/image" Target="/ppt/media/image.png" Id="R8594d27680754846" /><Relationship Type="http://schemas.openxmlformats.org/officeDocument/2006/relationships/notesSlide" Target="/ppt/notesSlides/notesSlide1.xml" Id="R10b78d7d823b44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d888c46fb40ca" /><Relationship Type="http://schemas.openxmlformats.org/officeDocument/2006/relationships/notesSlide" Target="/ppt/notesSlides/notesSlide2.xml" Id="Ra1791546769344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4fbe36fc447c9" /><Relationship Type="http://schemas.openxmlformats.org/officeDocument/2006/relationships/notesSlide" Target="/ppt/notesSlides/notesSlide3.xml" Id="Rd536dfd9f3ba41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98298d5ab4c93" /><Relationship Type="http://schemas.openxmlformats.org/officeDocument/2006/relationships/image" Target="/ppt/media/image2.png" Id="R1afc40f67e464799" /><Relationship Type="http://schemas.openxmlformats.org/officeDocument/2006/relationships/notesSlide" Target="/ppt/notesSlides/notesSlide4.xml" Id="R602e68be10db47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98a4b4eab24aa8" /><Relationship Type="http://schemas.openxmlformats.org/officeDocument/2006/relationships/notesSlide" Target="/ppt/notesSlides/notesSlide5.xml" Id="Rb8ec9c0ece2647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c8968b0f642a3" /><Relationship Type="http://schemas.openxmlformats.org/officeDocument/2006/relationships/notesSlide" Target="/ppt/notesSlides/notesSlide6.xml" Id="Raa90336684cc49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4c15b33d94ebc" /><Relationship Type="http://schemas.openxmlformats.org/officeDocument/2006/relationships/notesSlide" Target="/ppt/notesSlides/notesSlide7.xml" Id="R590acfe1029241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fdcfcf64f4ddf" /><Relationship Type="http://schemas.openxmlformats.org/officeDocument/2006/relationships/notesSlide" Target="/ppt/notesSlides/notesSlide8.xml" Id="R9b967f2a31fb4d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0207ba7ae470c" /><Relationship Type="http://schemas.openxmlformats.org/officeDocument/2006/relationships/notesSlide" Target="/ppt/notesSlides/notesSlide9.xml" Id="Rbd2ac204efa64b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5cc376aeb4ed8" /><Relationship Type="http://schemas.openxmlformats.org/officeDocument/2006/relationships/notesSlide" Target="/ppt/notesSlides/notesSlide10.xml" Id="R0e2595438d1a47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217d925e74a66" /><Relationship Type="http://schemas.openxmlformats.org/officeDocument/2006/relationships/notesSlide" Target="/ppt/notesSlides/notesSlide11.xml" Id="R7f389eb70aa243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5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8C397-A66D-47BB-9ED0-49CDC72C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192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A4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9A441"/>
                </a:solidFill>
                <a:latin typeface="Microsoft YaHei"/>
                <a:ea typeface="Microsoft YaHei"/>
                <a:cs typeface="Microsoft YaHei"/>
              </a:rPr>
              <a:t>区县业务员 · 辅助调查员培训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F541E-1204-4848-9170-4659262A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68580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劳动力调查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助手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D7EF4-53B1-44DA-86C6-8A86CFA8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857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4F439-DF23-4521-8BDA-238B2E86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628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FD4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FD4F0"/>
                </a:solidFill>
                <a:latin typeface="Microsoft YaHei"/>
                <a:ea typeface="Microsoft YaHei"/>
                <a:cs typeface="Microsoft YaHei"/>
              </a:rPr>
              <a:t>入户填报拿不准？随手一查，快速给出制度依据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1EC76-A893-4E44-8291-D0D841CF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579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laborforceai.xyz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2D341-1496-4E6A-AE60-5CA66CB4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1950"/>
            <a:ext cx="2952750" cy="61912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12345F"/>
          </a:solidFill>
          <a:ln xmlns:a="http://schemas.openxmlformats.org/drawingml/2006/main" w="9525">
            <a:solidFill>
              <a:srgbClr val="2B4E85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4d27680754846"/>
          <a:srcRect xmlns:a="http://schemas.openxmlformats.org/drawingml/2006/main" l="942" t="0" r="9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96300" y="495300"/>
            <a:ext cx="2686050" cy="5924550"/>
          </a:xfrm>
          <a:prstGeom xmlns:a="http://schemas.openxmlformats.org/drawingml/2006/main" prst="roundRect">
            <a:avLst>
              <a:gd name="adj" fmla="val 4255"/>
            </a:avLst>
          </a:prstGeom>
        </p:spPr>
      </p:pic>
    </p:spTree>
    <p:extLst>
      <p:ext uri="{BB962C8B-B14F-4D97-AF65-F5344CB8AC3E}">
        <p14:creationId xmlns:p14="http://schemas.microsoft.com/office/powerpoint/2010/main" val="14231340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789BB1-DD92-42FD-B44B-9EF750BC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F8A4C-3825-40FF-BED9-C03F7C05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5B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5BBF"/>
                </a:solidFill>
                <a:latin typeface="Microsoft YaHei"/>
                <a:ea typeface="Microsoft YaHei"/>
                <a:cs typeface="Microsoft YaHei"/>
              </a:rPr>
              <a:t>01 · 为什么用这个助手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75167-F6F3-4940-A5B2-418613B4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为什么用这个助手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43B15-7582-4D70-B6B1-739859F8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572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入户填报场景多、口径细，就业状态、灵活就业、退休返聘等复杂场景容易判断出错，错了直接影响数据质量。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FDA4B-6620-4403-A4AB-527D4327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05000"/>
            <a:ext cx="58674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3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D100D-B2D2-49DC-B9F1-8983CE3A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479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B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3E9473-FCF6-4045-896B-E1A8ED14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479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9A94B0-5A95-46E1-9D7C-9D60DBE9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336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场景多、口径细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1E1272-A81A-48FB-BD16-F2DE0210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146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复杂场景容易判断出错，需要随时查依据。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D7B1A-0F6E-4A3B-A2CF-AB21097D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95650"/>
            <a:ext cx="58674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3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22F9D-C826-4A5F-AD94-44E7782E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38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B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9AAC8-3F11-4715-B54B-54030D16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3855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725514-410A-4E64-9644-B9B3E68B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242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随身携带制度依据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199784-4CBF-4130-BACD-F9148105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052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入户拿不准随手一查，结论附制度依据。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8E708B-EBDD-4149-AA81-156CEB5A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86300"/>
            <a:ext cx="58674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3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FFD732-83BC-441E-B362-9AF47234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292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B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5E810-E2AB-4EC9-A64F-DD1F7397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29200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641920-3826-4AF0-9858-F5CD6F56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149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减少误填与返工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F5F65C-DEEA-4164-97A6-2FE7B8AF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959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判断有据，填报更稳，少走回头路。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C92D1F-3376-4026-88B7-1E8441C8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劳动力调查 AI 助手 · laborforceai.xyz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863AAF-CAC1-4D63-9B41-1B3F645B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06855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5635AF-01F8-43A1-9DCB-1E772AC7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3C055-E3A2-4B72-AF80-FE1715DB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5B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5BBF"/>
                </a:solidFill>
                <a:latin typeface="Microsoft YaHei"/>
                <a:ea typeface="Microsoft YaHei"/>
                <a:cs typeface="Microsoft YaHei"/>
              </a:rPr>
              <a:t>02 · 本次升级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8CFA6-0301-4A31-B0F0-C7A23DAE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本次升级：3 个新功能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2FF3E-B5B5-42CF-996C-E48B67B5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352800" cy="36195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3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E3026-F60E-4301-BC39-AABBB346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3528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5B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E730C-727C-491F-AD5D-16380E76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E8573-EC3E-4D46-946B-8B9C48E9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16C0D-8B2A-47B1-95F0-91E73A2C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528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热点问题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CD4E9-62F7-4772-8966-0A6EB0DC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86200"/>
            <a:ext cx="2628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首页自动展示近一月问得最多的问题，点一下即问，省去打字。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6C8D5-C7C4-4CA5-9760-13551221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00250"/>
            <a:ext cx="3352800" cy="36195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3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94C85-BAEA-484F-9BE6-95B8459C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00250"/>
            <a:ext cx="33528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5B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4D642-8222-4AE9-AC2A-E23F785CE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574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B721DD-9D8C-45D0-B60D-6982B6D8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574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6D18CD-3DD2-48F0-9472-BD0F6B48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528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答案反馈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B313FD-915A-4A2A-9F89-1836C86B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86200"/>
            <a:ext cx="2628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觉得答得不准，点「反馈」填正确答案和依据，帮助持续改进。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5D766E-BDF6-4653-ACC4-A0592CD5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0250"/>
            <a:ext cx="3352800" cy="36195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3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5E06E-A496-4FF7-B492-EBEAA4B0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0250"/>
            <a:ext cx="33528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5B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7952AF-74AE-4BE9-B49F-9AA5B070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FD2E2B-DCC2-4F06-9377-7F347C75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142F99-4D83-404D-9128-5EA8D178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528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历史记录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BAA7A1-E689-47D5-949A-83FB008F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86200"/>
            <a:ext cx="2628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对话自动保存，刷新页面或换手机都能继续上次的问答。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432406-4787-4825-B0B3-CB320A78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劳动力调查 AI 助手 · laborforceai.xyz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8134D-7D40-40D8-AB62-75FD6AE0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667561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ED6707-F19F-4229-BFB8-FE61BC9B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4B240-275C-4A94-8CF2-B3BAFB85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5B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5BBF"/>
                </a:solidFill>
                <a:latin typeface="Microsoft YaHei"/>
                <a:ea typeface="Microsoft YaHei"/>
                <a:cs typeface="Microsoft YaHei"/>
              </a:rPr>
              <a:t>03 · 访问与登录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F90CB-ACFC-4E7D-BF21-851AFFC4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访问与登录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3BA190-F237-4040-B516-C8DF2F27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B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3B19B-EEB7-4157-AA46-C035021E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C127F-9626-482A-B593-D7F26D6D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621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打开地址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2BED1-E54C-4A08-AA24-88278F17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431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laborforceai.xyz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C43B0-318D-4379-93F8-D9E31F35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B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8E953-4875-4CC9-8A76-72487323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FD2345-D6AB-4DF5-B44A-55444608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956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输入手机号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79E01F-925A-4AF7-AA85-63E933C6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白名单内的号码才能登录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559C83-AFAF-4ADD-86E6-389BD284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B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E75EC-2863-4694-827C-638A3560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A76A4-2A00-48E7-9A84-83DF9760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291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进入对话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916206-A3B7-42D9-8ADC-C388FC26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0101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直接提问即可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C83349-8E49-4187-B05A-F1E379D3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00200"/>
            <a:ext cx="4000500" cy="37719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3F5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fc40f67e464799"/>
          <a:stretch xmlns:a="http://schemas.openxmlformats.org/drawingml/2006/main"/>
        </p:blipFill>
        <p:spPr>
          <a:xfrm xmlns:a="http://schemas.openxmlformats.org/drawingml/2006/main">
            <a:off x="7620000" y="1361"/>
            <a:ext cx="3238500" cy="3007179"/>
          </a:xfrm>
          <a:prstGeom xmlns:a="http://schemas.openxmlformats.org/drawingml/2006/main" prst="roundRect">
            <a:avLst>
              <a:gd name="adj" fmla="val 3797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2C592D-D517-4EB8-8457-CBB1046B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816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登录界面示意（手机号即账号）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5B13FD-61A6-44B3-B43A-CBF7D0BB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劳动力调查 AI 助手 · laborforceai.xyz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349AF7-3BD2-4621-9967-92B844BA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259219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50C399-45C0-4229-9A12-F15F1B5A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5AF22-71BE-4E9B-A13D-FDBB4032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5B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5BBF"/>
                </a:solidFill>
                <a:latin typeface="Microsoft YaHei"/>
                <a:ea typeface="Microsoft YaHei"/>
                <a:cs typeface="Microsoft YaHei"/>
              </a:rPr>
              <a:t>04 · 实操演示 1/4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4DEE7-C66A-4EE9-8542-56573B8F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场景一 · 住户说「有时干活，有时不干活」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3BF8A-E934-4813-965C-F986738D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533400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58EA4-D84D-4F56-8C3A-322494D8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A4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9A441"/>
                </a:solidFill>
                <a:latin typeface="Microsoft YaHei"/>
                <a:ea typeface="Microsoft YaHei"/>
                <a:cs typeface="Microsoft YaHei"/>
              </a:rPr>
              <a:t>住户原话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42E64-5A91-4F1A-98F9-FF38EA08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4724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「有时候干活，有时候不干活」，怎么判断就业状态？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AB732-E0E6-466C-954E-C356543B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FD4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4F0"/>
                </a:solidFill>
                <a:latin typeface="Microsoft YaHei"/>
                <a:ea typeface="Microsoft YaHei"/>
                <a:cs typeface="Microsoft YaHei"/>
              </a:rPr>
              <a:t>不能凭感觉判断，要按制度标准一步步来。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4174B-153A-498C-BAF5-87E29AB0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B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3977E-5F7D-45CE-B4BC-66A8FE32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F5555-3F99-47E0-9783-7AD6AB7B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3835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先问清参考周内实际干了什么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D9C52-1B84-4CD6-AD6F-C5B5F971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B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0C458-5AC6-49AA-A99A-A6256630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97FFAC-FA40-48E6-A115-F3475D34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6705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再问有没有劳动报酬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795C7E-B174-4588-A46E-47F81411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57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B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6B0C54-836F-4343-BDC0-002FCA26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576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736515-3730-4728-9DEF-F62FBF9D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9575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对照 F10 指标归类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508BC0-F254-47CC-99E0-23684B37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86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B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4A7E96-20CA-4643-B3C6-8B005C7F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863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08A2DC-F294-40D4-939E-BF6A28A4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124450"/>
            <a:ext cx="438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结论附制度依据，拿不准随时查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D0845A-98FD-4706-ABBD-A67A5446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劳动力调查 AI 助手 · laborforceai.xyz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08BE8C-F0B6-4B77-B1EB-386F5F86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775349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CC894B-7C1C-4622-94FD-A9FB0F0A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6D956-FF04-4560-92AE-1518AE30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5B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5BBF"/>
                </a:solidFill>
                <a:latin typeface="Microsoft YaHei"/>
                <a:ea typeface="Microsoft YaHei"/>
                <a:cs typeface="Microsoft YaHei"/>
              </a:rPr>
              <a:t>04 · 实操演示 2/4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D3B0A-AD41-442D-A669-53233BA1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场景二 · 打零工、摆摊等灵活就业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EED96-5967-43F9-B342-04303573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C"/>
          </a:solidFill>
          <a:ln xmlns:a="http://schemas.openxmlformats.org/drawingml/2006/main" w="9525">
            <a:solidFill>
              <a:srgbClr val="D5E3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81CC1-B152-442F-B189-7D4B3DDB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住户说：平时打零工，这几天没活干，还算就业吗？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B1D872-894F-4E6F-A917-747CBFCB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3340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3F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7C6FCC-1C2D-423F-B09A-737F30D1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5B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5BBF"/>
                </a:solidFill>
                <a:latin typeface="Microsoft YaHei"/>
                <a:ea typeface="Microsoft YaHei"/>
                <a:cs typeface="Microsoft YaHei"/>
              </a:rPr>
              <a:t>先问清楚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C65AB-BF49-4C3F-A1D9-8C742824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·  参考周内有没有干活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8404B-EAA8-4000-8AF1-5803C585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96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·  有没有劳动报酬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C47F72-F084-482F-9597-EBD7103B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·  有没有在找工作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C15757-ABF1-49C7-A09E-014A7782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43250"/>
            <a:ext cx="53340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2A41E-CDE0-4A5E-AA3E-7649ABA3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099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A4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D9A441"/>
                </a:solidFill>
                <a:latin typeface="Microsoft YaHei"/>
                <a:ea typeface="Microsoft YaHei"/>
                <a:cs typeface="Microsoft YaHei"/>
              </a:rPr>
              <a:t>再对照制度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661EC4-85EA-4943-940A-6E3D6CF9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862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·  有活干有报酬 → 就业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F8370-D343-4D91-BE4C-E21C3FB4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196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·  没活干在找 → 失业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3CB85-31E0-4F58-870F-BD3ACE673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530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·  没找也不找 → 不在劳动力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B44F55-461E-4C9C-A9AE-F5EC3604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劳动力调查 AI 助手 · laborforceai.xyz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6C18E3-EE81-4658-A30E-01661813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696912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955204-5D24-44FC-90D0-EB72F774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85B88-64D6-408B-8315-22F08F22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5B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5BBF"/>
                </a:solidFill>
                <a:latin typeface="Microsoft YaHei"/>
                <a:ea typeface="Microsoft YaHei"/>
                <a:cs typeface="Microsoft YaHei"/>
              </a:rPr>
              <a:t>04 · 实操演示 3/4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57EC2-7407-4E66-A829-CDAD7E51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场景三 · 住户说「一般吧」「还行」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8ACE2-BF38-42B7-8090-99AB13B6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模糊回答不能直接录入，要引导住户说具体。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72B24-030D-41CE-8C07-F9AB2809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2959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3F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25175-87DF-47BE-91CF-4CF6C185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5B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EC6F02-41A7-4C1A-BC4F-CE27430B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换成具体问题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2EABA-C58F-494F-ABF7-0ACF5185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「上个月实际干了几天活？」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9AF81-40D6-4E4E-BC8B-821E9467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52959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3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A0C89-D0B8-45E4-A527-88CB884D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5B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3F78F-4643-4AA0-94CA-AFE15263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289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围绕参考周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A76BFB-98D2-45BD-B924-9710EBE9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只问最近一周的情况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CFCF4-1F5C-4F23-BD34-B3128D92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52959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3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B973B6-AC7A-4500-9C9F-526401D9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5B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21883-DEC4-40B8-B7D2-1312B20A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给出选项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28A04-4E75-4B60-B4FF-9A902555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「是每天出摊，还是偶尔？」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A9BF5-6E26-4ABA-B2CE-2F159FC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29100"/>
            <a:ext cx="529590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3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A94E68-120F-4C33-9B5F-0636F9EF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29100"/>
            <a:ext cx="76200" cy="1619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D5B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A066C0-B399-4B5F-894A-B8B92CF1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958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记录原话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63F821-285B-4785-ACBC-C607E70C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按住户原话判断，不替住户下结论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60040E-508D-4E29-988F-0377D4DE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劳动力调查 AI 助手 · laborforceai.xyz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FE2AF5-776B-47CE-BED3-6FEF13F7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328421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88A99F-AA6B-42C1-BDAC-4ACE0519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7A368-A704-42E2-BB83-92340A3C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5B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5BBF"/>
                </a:solidFill>
                <a:latin typeface="Microsoft YaHei"/>
                <a:ea typeface="Microsoft YaHei"/>
                <a:cs typeface="Microsoft YaHei"/>
              </a:rPr>
              <a:t>04 · 实操演示 4/4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A6694-D96D-4DF2-9C82-E22A882F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场景四 · 统计云系统操作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FF9D0-C142-490F-9D42-94104FC9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381500" cy="381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B25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09152-0867-47A7-96BF-01977B3D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操作类问题也能问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7DF33-6844-40F2-98E1-220806DE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FD4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FD4F0"/>
                </a:solidFill>
                <a:latin typeface="Microsoft YaHei"/>
                <a:ea typeface="Microsoft YaHei"/>
                <a:cs typeface="Microsoft YaHei"/>
              </a:rPr>
              <a:t>登录、用户管理、数据导出等系统操作问题，助手同样能给步骤说明。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90A0C-07B6-47CF-BD65-48B791EE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A4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9A441"/>
                </a:solidFill>
                <a:latin typeface="Microsoft YaHei"/>
                <a:ea typeface="Microsoft YaHei"/>
                <a:cs typeface="Microsoft YaHei"/>
              </a:rPr>
              <a:t>回答会附来源说明，方便核对。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AFAF6-A3EC-4255-8961-8C60E639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00250"/>
            <a:ext cx="62484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3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1826E-285F-46EB-BBFF-2CC4DBE8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90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5B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5BBF"/>
                </a:solidFill>
                <a:latin typeface="Microsoft YaHei"/>
                <a:ea typeface="Microsoft YaHei"/>
                <a:cs typeface="Microsoft YaHei"/>
              </a:rPr>
              <a:t>登录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F3B27-BE4D-43D7-8B25-800A655C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统计云登录入口与账号要求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556424-27E1-434B-86C7-1933978C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76550"/>
            <a:ext cx="62484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3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3EA19-C047-4179-BA93-0EEEAE69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670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5B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5BBF"/>
                </a:solidFill>
                <a:latin typeface="Microsoft YaHei"/>
                <a:ea typeface="Microsoft YaHei"/>
                <a:cs typeface="Microsoft YaHei"/>
              </a:rPr>
              <a:t>用户管理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1E0D18-0232-4E8D-A64F-BF247B1B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670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新增、停用调查员账号的路径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D16FE5-0272-448F-A844-EB09FB10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52850"/>
            <a:ext cx="62484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3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5C9424-D27D-4637-8A6E-96CE91B4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9433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5B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5BBF"/>
                </a:solidFill>
                <a:latin typeface="Microsoft YaHei"/>
                <a:ea typeface="Microsoft YaHei"/>
                <a:cs typeface="Microsoft YaHei"/>
              </a:rPr>
              <a:t>数据导出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065E7D-CEFF-45F1-8884-F1AB0672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导出报表的操作步骤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46A385-771F-4503-A35D-C710585E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29150"/>
            <a:ext cx="62484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3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0D35F9-6AAC-4E8F-A522-3A2FC175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8196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5B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5BBF"/>
                </a:solidFill>
                <a:latin typeface="Microsoft YaHei"/>
                <a:ea typeface="Microsoft YaHei"/>
                <a:cs typeface="Microsoft YaHei"/>
              </a:rPr>
              <a:t>注意事项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0E1620-E303-403A-9AC9-C228FD04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96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账号密码相关请走正式渠道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2A97A2-699A-4954-9E0B-69792C34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劳动力调查 AI 助手 · laborforceai.xyz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F89547-D4E6-45DA-8268-05A4A21C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089169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2C87AE-BC8B-477C-9D98-BA95AF45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0361B8-6E5D-4165-961D-B40EC7AE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5B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5BBF"/>
                </a:solidFill>
                <a:latin typeface="Microsoft YaHei"/>
                <a:ea typeface="Microsoft YaHei"/>
                <a:cs typeface="Microsoft YaHei"/>
              </a:rPr>
              <a:t>05 · 答案反馈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3B49F-1959-47E0-A180-40D54ECF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答案反馈：你觉得不准，我们来改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15550-2832-4712-9F38-506FC95B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3528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3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0CA34-D917-4511-98E6-76B5F92B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6DC35-8ECF-4956-ADC1-85CDAF98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89D96-D16D-460B-A88C-F756E860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点「答案不正确，反馈」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037B9-03BB-49F0-BAF6-1D6FA93C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在回答下方找到反馈入口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490870-7FD7-47A0-8E5E-23FF9EDD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33528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3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480D26-65E9-4B2D-AEDB-8548A971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955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1D7F88-57DD-4D09-AC11-1518C3DE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955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FD03B-3D76-4BD7-9BE0-789EF68C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909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填正确答案和依据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B57748-9D0B-49A6-96EA-5BD88A0F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05250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写清楚哪里不对、应该怎么答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088BA1-324B-4CF1-B51E-E81E7EE2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95500"/>
            <a:ext cx="33528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3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ECE265-F25D-46BF-9031-6BB8EFBC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955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47E9FB-CB42-4F5C-BD20-7EC95664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955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553394-A2A3-4DA8-9386-FBAB65D7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909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管理员复核后改进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1CDFAC-12C2-4536-8147-93CFBD3C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05250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确认后更新知识库，下次更准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E7E861-307F-4B13-A2F7-F32A8E24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2FC"/>
          </a:solidFill>
          <a:ln xmlns:a="http://schemas.openxmlformats.org/drawingml/2006/main" w="9525">
            <a:solidFill>
              <a:srgbClr val="D5E3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764A2A-BAAB-4CCA-B2D5-E315C99C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反馈会进入复核流程，管理员确认后改进知识库，下一次回答更准。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6D7DCD-58C0-4698-81F0-7B04D212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劳动力调查 AI 助手 · laborforceai.xyz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6EE619-B2F0-4D38-8417-1D4F4963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473568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F9BE27-E488-4CD7-9FB1-CB329D9D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44693-BA44-4948-AC06-509FFB6C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5B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5BBF"/>
                </a:solidFill>
                <a:latin typeface="Microsoft YaHei"/>
                <a:ea typeface="Microsoft YaHei"/>
                <a:cs typeface="Microsoft YaHei"/>
              </a:rPr>
              <a:t>06 · 注意事项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0FDA7-2A51-4A19-BD6E-0C46E3FF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注意事项与常见问题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93203-2533-433D-8EFE-3E28055A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259080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3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8D2B0-C0E3-42DD-9219-8CB5802C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B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48D47-9911-47B6-87E4-AF05BF34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73F21-A687-4F7B-82ED-B3860DAE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14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不收集个人信息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1CE5C-7545-4464-887E-5A82C364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213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助手只做填报指导，不录入居民信息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85B24-E9BA-4C07-9D32-F6DEEC92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66900"/>
            <a:ext cx="259080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3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26468-68F2-4320-930F-BF8471A9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B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29DB32-A20F-420B-AC8F-90371DE8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76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1A362-172D-49A7-B926-31E62EF0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4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先问清再判断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866E74-6F59-4F20-80DE-2411C785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05100"/>
            <a:ext cx="213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发放周期、工作时长等先问清楚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7B501-7600-4601-8BF4-D069C797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66900"/>
            <a:ext cx="259080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3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648914-C03B-4B7C-8207-3FBBFB8E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B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0B5DA-9D94-41F2-B823-A47605F5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D25039-0506-4DE1-B5C7-84B817E7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14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历史仅本人可见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D6AF37-742F-458C-96E3-1640C09F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05100"/>
            <a:ext cx="213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换设备用同一手机号登录即可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94BF16-95A9-4825-9BB2-887614AF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66900"/>
            <a:ext cx="259080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3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8EFB41-5075-4C80-88C2-00161F20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76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B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5C8D3F-B385-4BDB-BC60-0ADB2E07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764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C6A8A1-B513-43E5-9248-46A73141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14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以制度为准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BFF1E8-ED92-4D81-9976-79798E19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05100"/>
            <a:ext cx="213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回答附依据，以最新制度原文为准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6D8B19-52D6-40EA-AC4E-3C551393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259080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3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43FE9B-8427-47ED-9B73-EDA99580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B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FB199D-4897-42F8-820B-092DD603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7335F7-09F8-4494-87C9-478532D5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71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白名单门禁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1C9FB2-D1F2-4E53-8504-F22E7D10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213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未录入的手机号无法登录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CDB7E6-FB89-43B2-8D86-87D318F4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24300"/>
            <a:ext cx="259080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3F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CE3E57-EEB7-4204-A6A3-F7702953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33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B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6A6C46-DD41-4021-BBF0-A87FDA4D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33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55771F-8549-4737-8E6D-EAEB67E4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71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登录不上？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8787FA-9DAF-4F11-8C5B-94837831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762500"/>
            <a:ext cx="213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确认号码已录入白名单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EE76B4-F20A-4124-8809-0F718D28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24300"/>
            <a:ext cx="259080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3F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DEA7CB-CEFD-436D-910E-A4E8BE46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33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B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B2217C-27D2-4E6D-9F42-3E85911A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33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06C970-FE17-4610-B6AA-8D6B1728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171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答得不准？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EC63C2-D4D0-457C-8C58-F4219256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213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点「反馈」告诉我们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B98DB2-B909-415A-A8B7-69C376AD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924300"/>
            <a:ext cx="259080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3F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2ECFCF-7BDB-4FE5-AA9A-301D42B8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33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B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0D0E55-E39F-47EF-80CB-A57C380B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338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153775-F8C1-470B-83A7-4B27EAA3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171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还有疑问？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A48CD7-4DA9-45EF-A2BE-1915717D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762500"/>
            <a:ext cx="213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群里反馈或联系业务员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365AAC-C23D-4E24-A3E6-B7F36372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劳动力调查 AI 助手 · laborforceai.xyz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D3E0F3-D859-410C-BFF1-C240A371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6400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B8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376066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25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B4C11-4857-491C-ABFD-3A2B0920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A4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9A441"/>
                </a:solidFill>
                <a:latin typeface="Microsoft YaHei"/>
                <a:ea typeface="Microsoft YaHei"/>
                <a:cs typeface="Microsoft YaHei"/>
              </a:rPr>
              <a:t>劳动力调查 AI 助手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18E665-92B4-4E59-A42D-3340AC7D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943100"/>
            <a:ext cx="857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D7851-8AA5-4C86-931D-6CA22F0A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谢谢大家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340EE-1A5A-48DF-8526-08A03DC9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33800"/>
            <a:ext cx="1219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BFD4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FD4F0"/>
                </a:solidFill>
                <a:latin typeface="Microsoft YaHei"/>
                <a:ea typeface="Microsoft YaHei"/>
                <a:cs typeface="Microsoft YaHei"/>
              </a:rPr>
              <a:t>多试用、多反馈，把助手越用越准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4D562-1502-4134-9726-34174B68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52950"/>
            <a:ext cx="1219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问题反馈：测试群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73B242-F07A-4ADA-817E-F32D26BA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91100"/>
            <a:ext cx="1219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访问地址：laborforceai.xyz</a:t>
            </a:r>
          </a:p>
        </p:txBody>
      </p:sp>
    </p:spTree>
    <p:extLst>
      <p:ext uri="{BB962C8B-B14F-4D97-AF65-F5344CB8AC3E}">
        <p14:creationId xmlns:p14="http://schemas.microsoft.com/office/powerpoint/2010/main" val="9075009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2026-08-31T12:56:56.0840000Z</dcterms:created>
  <dcterms:modified xsi:type="dcterms:W3CDTF">2026-08-31T12:56:56.0840000Z</dcterms:modified>
</coreProperties>
</file>